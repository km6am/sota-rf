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50" b="0" i="0" u="none" strike="noStrike">
                <a:solidFill>
                  <a:srgbClr val="E7EEF4"/>
                </a:solidFill>
                <a:latin typeface="Calibri"/>
              </a:defRPr>
            </a:pPr>
            <a:r>
              <a:rPr sz="1250" b="0" i="0" u="none" strike="noStrike">
                <a:solidFill>
                  <a:srgbClr val="E7EEF4"/>
                </a:solidFill>
                <a:latin typeface="Calibri"/>
              </a:rPr>
              <a:t>Summits at HIGH overload risk, by ham band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HIGH summits</c:v>
                </c:pt>
              </c:strCache>
            </c:strRef>
          </c:tx>
          <c:spPr>
            <a:solidFill>
              <a:srgbClr val="E369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E7EEF4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70 cm</c:v>
                  </c:pt>
                  <c:pt idx="1">
                    <c:v>23 cm</c:v>
                  </c:pt>
                  <c:pt idx="2">
                    <c:v>2 m</c:v>
                  </c:pt>
                  <c:pt idx="3">
                    <c:v>6 m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69</c:v>
                </c:pt>
                <c:pt idx="1">
                  <c:v>42</c:v>
                </c:pt>
                <c:pt idx="2">
                  <c:v>24</c:v>
                </c:pt>
                <c:pt idx="3">
                  <c:v>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E7EEF4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E7EEF4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</c:scaling>
        <c:delete val="0"/>
        <c:axPos val="b"/>
        <c:majorGridlines>
          <c:spPr>
            <a:ln w="12700" cap="flat">
              <a:solidFill>
                <a:srgbClr val="20374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FA3B3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Summary of the SOTA RF-source mapper, W6 (California). 605 of 4,329 summits have an in-range fixed RF source; 184 (30%) show MODERATE-or-worse ham-band overload risk. 70 cm is the most-threatened amateur band. Data: FCC ASR structures + ULS land-mobile/microwave + CDBS broadcast = 1.23 M sources. Field-strength inclusion model captures distant high-ERP broadcast masts.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California Summit RF Environment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A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SOTA RF-source mapper</a:t>
            </a:r>
            <a:pPr indent="0" marL="0">
              <a:buNone/>
            </a:pPr>
            <a:r>
              <a:rPr lang="en-US" sz="1350" dirty="0">
                <a:solidFill>
                  <a:srgbClr val="8FA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605 summits mapped against 1.23 M FCC RF sources  (ASR + ULS land-mobile/microwave + CDBS broadcast)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2679192" cy="1371600"/>
          </a:xfrm>
          <a:prstGeom prst="roundRect">
            <a:avLst>
              <a:gd name="adj" fmla="val 5333"/>
            </a:avLst>
          </a:prstGeom>
          <a:solidFill>
            <a:srgbClr val="13273A"/>
          </a:solidFill>
          <a:ln w="12700">
            <a:solidFill>
              <a:srgbClr val="2037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21208" y="1609344"/>
            <a:ext cx="2642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8A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605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21208" y="2212848"/>
            <a:ext cx="2642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impacted summits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21208" y="2468880"/>
            <a:ext cx="2642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FA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4,329 W6 summits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28416" y="1481328"/>
            <a:ext cx="2679192" cy="1371600"/>
          </a:xfrm>
          <a:prstGeom prst="roundRect">
            <a:avLst>
              <a:gd name="adj" fmla="val 5333"/>
            </a:avLst>
          </a:prstGeom>
          <a:solidFill>
            <a:srgbClr val="13273A"/>
          </a:solidFill>
          <a:ln w="12700">
            <a:solidFill>
              <a:srgbClr val="2037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46704" y="1609344"/>
            <a:ext cx="2642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8A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3346704" y="2212848"/>
            <a:ext cx="2642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MODERATE+ overload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46704" y="2468880"/>
            <a:ext cx="2642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FA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184 summits at real risk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53912" y="1481328"/>
            <a:ext cx="2679192" cy="1371600"/>
          </a:xfrm>
          <a:prstGeom prst="roundRect">
            <a:avLst>
              <a:gd name="adj" fmla="val 5333"/>
            </a:avLst>
          </a:prstGeom>
          <a:solidFill>
            <a:srgbClr val="13273A"/>
          </a:solidFill>
          <a:ln w="12700">
            <a:solidFill>
              <a:srgbClr val="2037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72200" y="1609344"/>
            <a:ext cx="2642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8A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 cm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6172200" y="2212848"/>
            <a:ext cx="2642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most-threatened band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172200" y="2468880"/>
            <a:ext cx="2642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FA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 HIGH · 153 MOD+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979408" y="1481328"/>
            <a:ext cx="2679192" cy="1371600"/>
          </a:xfrm>
          <a:prstGeom prst="roundRect">
            <a:avLst>
              <a:gd name="adj" fmla="val 5333"/>
            </a:avLst>
          </a:prstGeom>
          <a:solidFill>
            <a:srgbClr val="13273A"/>
          </a:solidFill>
          <a:ln w="12700">
            <a:solidFill>
              <a:srgbClr val="20374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97696" y="1609344"/>
            <a:ext cx="2642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8A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 MW</a:t>
            </a:r>
            <a:endParaRPr lang="en-US" sz="3800" dirty="0"/>
          </a:p>
        </p:txBody>
      </p:sp>
      <p:sp>
        <p:nvSpPr>
          <p:cNvPr id="18" name="Text 16"/>
          <p:cNvSpPr/>
          <p:nvPr/>
        </p:nvSpPr>
        <p:spPr>
          <a:xfrm>
            <a:off x="8997696" y="2212848"/>
            <a:ext cx="2642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UHF-TV broadcast ERP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997696" y="2468880"/>
            <a:ext cx="2642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FA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37× all other bands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02920" y="3127248"/>
            <a:ext cx="5623560" cy="3246120"/>
          </a:xfrm>
          <a:prstGeom prst="roundRect">
            <a:avLst>
              <a:gd name="adj" fmla="val 1690"/>
            </a:avLst>
          </a:prstGeom>
          <a:solidFill>
            <a:srgbClr val="13273A"/>
          </a:solidFill>
          <a:ln w="12700">
            <a:solidFill>
              <a:srgbClr val="20374C"/>
            </a:solidFill>
            <a:prstDash val="solid"/>
          </a:ln>
        </p:spPr>
      </p:sp>
      <p:graphicFrame>
        <p:nvGraphicFramePr>
          <p:cNvPr id="21" name="Chart 0" descr=""/>
          <p:cNvGraphicFramePr/>
          <p:nvPr/>
        </p:nvGraphicFramePr>
        <p:xfrm>
          <a:off x="658368" y="3255264"/>
          <a:ext cx="530352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6446520" y="3236976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6446520" y="3739896"/>
            <a:ext cx="128016" cy="128016"/>
          </a:xfrm>
          <a:prstGeom prst="rect">
            <a:avLst/>
          </a:prstGeom>
          <a:solidFill>
            <a:srgbClr val="E8A13A"/>
          </a:solidFill>
          <a:ln/>
        </p:spPr>
      </p:sp>
      <p:sp>
        <p:nvSpPr>
          <p:cNvPr id="24" name="Text 21"/>
          <p:cNvSpPr/>
          <p:nvPr/>
        </p:nvSpPr>
        <p:spPr>
          <a:xfrm>
            <a:off x="6702552" y="3648456"/>
            <a:ext cx="4956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 powers it, land-mobile blankets it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6702552" y="3950208"/>
            <a:ext cx="49560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UHF-TV alone is 96 MW of ERP, but VHF/UHF/microwave land-mobile reach 330–399 summits each vs 121–131 for broadcast.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6446520" y="4672584"/>
            <a:ext cx="128016" cy="128016"/>
          </a:xfrm>
          <a:prstGeom prst="rect">
            <a:avLst/>
          </a:prstGeom>
          <a:solidFill>
            <a:srgbClr val="E8A13A"/>
          </a:solidFill>
          <a:ln/>
        </p:spPr>
      </p:sp>
      <p:sp>
        <p:nvSpPr>
          <p:cNvPr id="27" name="Text 24"/>
          <p:cNvSpPr/>
          <p:nvPr/>
        </p:nvSpPr>
        <p:spPr>
          <a:xfrm>
            <a:off x="6702552" y="4581144"/>
            <a:ext cx="4956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 cm is squeezed from both sides</a:t>
            </a:r>
            <a:endParaRPr lang="en-US" sz="1350" dirty="0"/>
          </a:p>
        </p:txBody>
      </p:sp>
      <p:sp>
        <p:nvSpPr>
          <p:cNvPr id="28" name="Text 25"/>
          <p:cNvSpPr/>
          <p:nvPr/>
        </p:nvSpPr>
        <p:spPr>
          <a:xfrm>
            <a:off x="6702552" y="4882896"/>
            <a:ext cx="49560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Full-power UHF-TV (470–700 MHz) above and UHF public-safety/GMRS (450–470) below — the worst band by far.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6446520" y="5605272"/>
            <a:ext cx="128016" cy="128016"/>
          </a:xfrm>
          <a:prstGeom prst="rect">
            <a:avLst/>
          </a:prstGeom>
          <a:solidFill>
            <a:srgbClr val="E8A13A"/>
          </a:solidFill>
          <a:ln/>
        </p:spPr>
      </p:sp>
      <p:sp>
        <p:nvSpPr>
          <p:cNvPr id="30" name="Text 27"/>
          <p:cNvSpPr/>
          <p:nvPr/>
        </p:nvSpPr>
        <p:spPr>
          <a:xfrm>
            <a:off x="6702552" y="5513832"/>
            <a:ext cx="4956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Distance-aware capture</a:t>
            </a:r>
            <a:endParaRPr lang="en-US" sz="1350" dirty="0"/>
          </a:p>
        </p:txBody>
      </p:sp>
      <p:sp>
        <p:nvSpPr>
          <p:cNvPr id="31" name="Text 28"/>
          <p:cNvSpPr/>
          <p:nvPr/>
        </p:nvSpPr>
        <p:spPr>
          <a:xfrm>
            <a:off x="6702552" y="5815584"/>
            <a:ext cx="49560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field-strength model (ERP/d²) pulls in far megawatt masts — e.g. Sutro Tower's ~7 MW, 1.9 km from Mt Davidson.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2026-08-03T23:34:47Z</dcterms:created>
  <dcterms:modified xsi:type="dcterms:W3CDTF">2026-08-03T23:34:47Z</dcterms:modified>
</cp:coreProperties>
</file>